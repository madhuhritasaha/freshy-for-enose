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C7B"/>
    <a:srgbClr val="5A6772"/>
    <a:srgbClr val="6B2C5F"/>
    <a:srgbClr val="234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379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051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[0:00-0:30 | 30 s]</a:t>
            </a:r>
          </a:p>
          <a:p>
            <a:r>
              <a:t>Good morning. I'm Madhuhrita Saha from IEM Kolkata. Over the past two months at the Centre for Human-Computer Interaction at IIT Mandi, under Prof. Shubhajit Roy Chowdhury and my mentor Vinod Shrivastava, I built a low-cost electronic nose that grades onion freshness non-destructively.</a:t>
            </a:r>
          </a:p>
          <a:p>
            <a:r>
              <a:t>[Stand still. Eye contact. Don't rush.]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[0:30-1:40 | 70 s]</a:t>
            </a:r>
          </a:p>
          <a:p>
            <a:r>
              <a:t>- India is the second-largest onion producer in the world. Post-harvest losses run 20 to 40 percent, largely because cold-chain infrastructure is thin in hill regions like Himachal.</a:t>
            </a:r>
          </a:p>
          <a:p>
            <a:r>
              <a:t>- The WHO puts foodborne illness at roughly 600 million cases a year. For onions the hazard is fungal infection - Fusarium, Aspergillus, Botrytis - and mycotoxin contamination.</a:t>
            </a:r>
          </a:p>
          <a:p>
            <a:r>
              <a:t>- The core problem: early-stage infection colonises the interior with NO visible discolouration. Visual inspection fails exactly when detection matters most.</a:t>
            </a:r>
          </a:p>
          <a:p>
            <a:r>
              <a:t>- Three columns: conventional inspection is subjective; GC-MS is accurate but destructive, slow and expensive; the E-nose sits between them.</a:t>
            </a:r>
          </a:p>
          <a:p>
            <a:r>
              <a:t>TRANSITION: "So the objective was a standalone, low-cost device. Here is what I built."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[1:40-3:00 | 80 s]</a:t>
            </a:r>
          </a:p>
          <a:p>
            <a:r>
              <a:t>- Walk the photo left to right: the onion sits in the sample chamber and accumulates headspace for six hours. The valve opens, and the vacuum pump draws that headspace across the sensor chamber. Both chambers I fabricated in-house from 5 mm cast acrylic in the mechanical workshop here.</a:t>
            </a:r>
          </a:p>
          <a:p>
            <a:r>
              <a:t>- Compute: an ESP32 - 240 MHz, 12-bit ADC. Acquisition, feature extraction and inference ALL run on the device.</a:t>
            </a:r>
          </a:p>
          <a:p>
            <a:r>
              <a:t>- Interface: the ESP32 hosts its own Wi-Fi access point and dashboard. Connect a phone, press Start Test, read the result. No laptop, no cloud, no internet.</a:t>
            </a:r>
          </a:p>
          <a:p>
            <a:r>
              <a:t>- Offline: training happens in MATLAB, but the model returns as a JSON file - no recompiling.</a:t>
            </a:r>
          </a:p>
          <a:p>
            <a:r>
              <a:t>- The sensor strip: five MOS sensors with deliberately OVERLAPPING sensitivities. No single sensor detects spoilage - it's the composite pattern, which is how biological olfaction works.</a:t>
            </a:r>
          </a:p>
          <a:p>
            <a:r>
              <a:t>- Note the orange labels: only MQ-135 and MQ-137 were used by the final model. I'll come back to that.</a:t>
            </a:r>
          </a:p>
          <a:p>
            <a:r>
              <a:t>KEY: whole build is ₹5,960.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[3:00-4:10 | 70 s]</a:t>
            </a:r>
          </a:p>
          <a:p>
            <a:r>
              <a:t>- One button triggers a fixed four-stage cycle: 90 seconds of pump evacuation, 60 seconds for the operator to open the valve, 60 seconds of acquisition at 10 Hz - about 600 samples per sensor - then classification in under a second. Three and a half minutes, fully automated.</a:t>
            </a:r>
          </a:p>
          <a:p>
            <a:r>
              <a:t>- Second row - the data pipeline. 600 raw samples per sensor is neither necessary nor tractable on a microcontroller. Each window collapses to seven statistics per sensor: mean, standard deviation, peak, baseline, delta, area under the curve, slope. Five sensors times seven gives a 35-feature vector.</a:t>
            </a:r>
          </a:p>
          <a:p>
            <a:r>
              <a:t>- The engineering point in the orange strip: the firmware computes these as a single-pass streaming accumulator with constant memory. The full buffer is never held in RAM. That is what makes it fit on an ESP32.</a:t>
            </a:r>
          </a:p>
          <a:p>
            <a:r>
              <a:t>- Bottom cards: 60 observations, three onions, four classes, five replicates, sampled Days 0, 2, 4 and 6.</a:t>
            </a:r>
          </a:p>
          <a:p>
            <a:r>
              <a:t>FLAG IT: "Note that each class was sampled on its own day. Remember that - it becomes the most important finding in this talk."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[4:10-5:10 | 60 s]</a:t>
            </a:r>
          </a:p>
          <a:p>
            <a:r>
              <a:t>- Phase 1 used everything - all 37 features, including humidity and temperature. This was an upper-bound reference, never intended for deployment.</a:t>
            </a:r>
          </a:p>
          <a:p>
            <a:r>
              <a:t>- PCA on the left: the first three components capture 76.3 percent of the variance. But look at the scatter - only partial clustering, substantial overlap. Only Highly Spoiled forms a distinct group on the right.</a:t>
            </a:r>
          </a:p>
          <a:p>
            <a:r>
              <a:t>- The Random Forest reached 75.0 percent cross-validated with a macro AUC of 0.903. On paper that looks respectable.</a:t>
            </a:r>
          </a:p>
          <a:p>
            <a:r>
              <a:t>- But when I inspected which features the ensemble actually relied on, mean humidity and mean temperature ranked among the most important predictors.</a:t>
            </a:r>
          </a:p>
          <a:p>
            <a:r>
              <a:t>[Pause.] "And that is where this project became interesting."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[5:10-6:20 | 70 s]  ** CENTREPIECE - confidence, not apology **</a:t>
            </a:r>
          </a:p>
          <a:p>
            <a:r>
              <a:t>- Recall the protocol: Fresh on Day 0, Slightly Aged on Day 2, and so on. One class per calendar day. The class label is therefore perfectly collinear with the day of measurement.</a:t>
            </a:r>
          </a:p>
          <a:p>
            <a:r>
              <a:t>- Anything varying with time - ambient humidity, temperature, sensor baseline drift - is statistically indistinguishable from the freshness label. So part of that 75 percent is the model discriminating between COLLECTION DAYS, not spoilage states.</a:t>
            </a:r>
          </a:p>
          <a:p>
            <a:r>
              <a:t>- The radar plot corroborates it. Highly Spoiled shows the LOWEST mean response on every single channel - an inversion of what the whole literature expects, since rotting material should emit MORE volatiles, not fewer. The explanation isn't chemistry; it's the same confound acting on the sensor baselines.</a:t>
            </a:r>
          </a:p>
          <a:p>
            <a:r>
              <a:t>- So I excluded both environmental covariates and retrained from scratch.</a:t>
            </a:r>
          </a:p>
          <a:p>
            <a:r>
              <a:t>SAY THIS: "I'm reporting this rather than hiding it, because diagnosing the confound is itself a substantive outcome - it directly determines how the next dataset must be collected."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[6:20-7:20 | 60 s]</a:t>
            </a:r>
          </a:p>
          <a:p>
            <a:r>
              <a:t>- Phase 2: 35 sensor-only features, environmental covariates excluded. 65.0 percent cross-validated accuracy, macro-F1 0.542, against a chance baseline of 25 percent.</a:t>
            </a:r>
          </a:p>
          <a:p>
            <a:r>
              <a:t>- Important - that's from out-of-fold predictions. Training-set accuracy was 83.3 percent, but with n = 60 that's inflated by overfitting and I don't report it as a result.</a:t>
            </a:r>
          </a:p>
          <a:p>
            <a:r>
              <a:t>- Left chart: I swept tree complexity. Seven splits, effective depth three, won at 65 percent. Deeper trees overfit and got worse - expected with 60 observations.</a:t>
            </a:r>
          </a:p>
          <a:p>
            <a:r>
              <a:t>- Right chart: performance is uneven. Slightly Aged is very reliable at 0.87. Moderately Spoiled is weakest at 0.35, confused with both neighbours - chemically sensible, since intermediate states have a less distinct signature than the extremes.</a:t>
            </a:r>
          </a:p>
          <a:p>
            <a:r>
              <a:t>- Bottom right: the tree splits only on MQ135 and MQ137. The three TGS sensors contributed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[7:20-8:40 | 80 s]</a:t>
            </a:r>
          </a:p>
          <a:p>
            <a:r>
              <a:t>- Four limitations, name them quickly: the day/class confound; small sample at n = 60; reliance on only two of five channels, so robustness to sensor failure is unvalidated; and no pure-culture inoculation - I used natural microflora.</a:t>
            </a:r>
          </a:p>
          <a:p>
            <a:r>
              <a:t>- Four next steps, mapped one to one: interleave all four classes within every collection session and expand the dataset; recalibrate the TGS channels and try relative-response with relative baseline correction, which the literature identifies as best practice; benchmark SVM-RBF and k-NN against this baseline; and formalise the work into the planned conference paper.</a:t>
            </a:r>
          </a:p>
          <a:p>
            <a:r>
              <a:t>- On cost: ₹5,960, about 72 dollars. Roughly four times cheaper than the comparable published MOS array, and two to three orders of magnitude below commercial instruments at five to fifty lakh rupees.</a:t>
            </a:r>
          </a:p>
          <a:p>
            <a:r>
              <a:t>KEY LINE: "Because the model ships as JSON, every one of these improvements deploys without touching the hardware or firmware."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[8:40-9:30 | 50 s]</a:t>
            </a:r>
          </a:p>
          <a:p>
            <a:r>
              <a:t>- To summarise: an end-to-end, edge-deployable E-nose pipeline - from raw VOC sensing to a displayed classification result - was designed, fabricated, trained and deployed within two months. Machine learning moved from a planned future phase to a completed, evaluated component.</a:t>
            </a:r>
          </a:p>
          <a:p>
            <a:r>
              <a:t>- Four cards: the system, the method, the result, and the value.</a:t>
            </a:r>
          </a:p>
          <a:p>
            <a:r>
              <a:t>CLOSING LINE (deliberate, then stop): "The honest 65 percent - obtained after removing the covariates that inflated the 75 percent benchmark - is more useful to this laboratory than an impressive number that would not survive a change of measurement day."</a:t>
            </a:r>
          </a:p>
          <a:p>
            <a:r>
              <a:t>- Thank you. My thanks to Prof. Roy Chowdhury and Vinod Shrivastava, and to the CHCI Lab and the workshops at IIT Mandi.</a:t>
            </a:r>
          </a:p>
          <a:p>
            <a:r>
              <a:t>[Smile. Pause. Let the first question come.]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85953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ELECTRONIC NOSE–BASED DETECTION OF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D9541E"/>
                </a:solidFill>
                <a:latin typeface="Calibri"/>
              </a:rPr>
              <a:t>ONION FRESHNESS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USING A MOS SENSOR ARRAY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MACHINE LEARNING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41648"/>
            <a:ext cx="2103120" cy="45720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315968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1">
                <a:solidFill>
                  <a:srgbClr val="9FB6CB"/>
                </a:solidFill>
                <a:latin typeface="Calibri"/>
              </a:rPr>
              <a:t>Summer Internship 2026  ·  Final Presentation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6CB"/>
                </a:solidFill>
                <a:latin typeface="Calibri"/>
              </a:rPr>
              <a:t>Centre for Human–Computer Interaction, School of Computing &amp; Electrical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13248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Madhuhrita Saha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6CB"/>
                </a:solidFill>
                <a:latin typeface="Calibri"/>
              </a:rPr>
              <a:t>Institute of Engineering &amp; Management, Kolkata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530352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Supervisor   Prof. Shubhajit Roy Chowdhury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9FB6CB"/>
                </a:solidFill>
                <a:latin typeface="Calibri"/>
              </a:rPr>
              <a:t>Professor, SCEE, IIT Mandi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Mentor   Vinod Shrivastava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9FB6CB"/>
                </a:solidFill>
                <a:latin typeface="Calibri"/>
              </a:rPr>
              <a:t>PhD Scholar, SCEE, IIT Mandi</a:t>
            </a:r>
          </a:p>
        </p:txBody>
      </p:sp>
      <p:sp>
        <p:nvSpPr>
          <p:cNvPr id="9" name="Rectangle 8"/>
          <p:cNvSpPr/>
          <p:nvPr/>
        </p:nvSpPr>
        <p:spPr>
          <a:xfrm>
            <a:off x="9921240" y="1188720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iitmand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373933"/>
            <a:ext cx="1508760" cy="10468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64040" y="276148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6CB"/>
                </a:solidFill>
                <a:latin typeface="Calibri"/>
              </a:rPr>
              <a:t>IIT MANDI  ·  MAY–JULY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Motivation and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v3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0" y="1188720"/>
            <a:ext cx="10472634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310128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1F2A33"/>
                </a:solidFill>
                <a:latin typeface="Calibri"/>
              </a:rPr>
              <a:t>Early-stage fungal infection — Fusarium, Aspergillus, Botrytis — </a:t>
            </a:r>
            <a:r>
              <a:rPr sz="1700" b="0" i="0" dirty="0" err="1">
                <a:solidFill>
                  <a:srgbClr val="1F2A33"/>
                </a:solidFill>
                <a:latin typeface="Calibri"/>
              </a:rPr>
              <a:t>colonises</a:t>
            </a:r>
            <a:r>
              <a:rPr sz="1700" b="0" i="0" dirty="0">
                <a:solidFill>
                  <a:srgbClr val="1F2A33"/>
                </a:solidFill>
                <a:latin typeface="Calibri"/>
              </a:rPr>
              <a:t> the bulb interior before any visible </a:t>
            </a:r>
            <a:r>
              <a:rPr sz="1700" b="0" i="0" dirty="0" err="1">
                <a:solidFill>
                  <a:srgbClr val="1F2A33"/>
                </a:solidFill>
                <a:latin typeface="Calibri"/>
              </a:rPr>
              <a:t>discolouration</a:t>
            </a:r>
            <a:r>
              <a:rPr sz="1700" b="0" i="0" dirty="0">
                <a:solidFill>
                  <a:srgbClr val="1F2A33"/>
                </a:solidFill>
                <a:latin typeface="Calibri"/>
              </a:rPr>
              <a:t>, so visual inspection fails exactly when detection matters most.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05072"/>
            <a:ext cx="3611880" cy="1700784"/>
          </a:xfrm>
          <a:prstGeom prst="rect">
            <a:avLst/>
          </a:prstGeom>
          <a:solidFill>
            <a:srgbClr val="FFFFFF"/>
          </a:solidFill>
          <a:ln w="25400">
            <a:solidFill>
              <a:srgbClr val="5A6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4005072"/>
            <a:ext cx="3611880" cy="420624"/>
          </a:xfrm>
          <a:prstGeom prst="rect">
            <a:avLst/>
          </a:prstGeom>
          <a:solidFill>
            <a:srgbClr val="5A6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9651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CONVENTIONAL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517136"/>
            <a:ext cx="3319272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4375E"/>
                </a:solidFill>
                <a:latin typeface="Calibri"/>
              </a:rPr>
              <a:t>Visual / sensory inspection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772"/>
                </a:solidFill>
                <a:latin typeface="Calibri"/>
              </a:rPr>
              <a:t>Subjective; misses early infection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4005072"/>
            <a:ext cx="3611880" cy="1700784"/>
          </a:xfrm>
          <a:prstGeom prst="rect">
            <a:avLst/>
          </a:prstGeom>
          <a:solidFill>
            <a:srgbClr val="FFFFFF"/>
          </a:solidFill>
          <a:ln w="25400">
            <a:solidFill>
              <a:srgbClr val="5A67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4005072"/>
            <a:ext cx="3611880" cy="420624"/>
          </a:xfrm>
          <a:prstGeom prst="rect">
            <a:avLst/>
          </a:prstGeom>
          <a:solidFill>
            <a:srgbClr val="5A6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8536" y="409651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LABORATORY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17136"/>
            <a:ext cx="3319272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4375E"/>
                </a:solidFill>
                <a:latin typeface="Calibri"/>
              </a:rPr>
              <a:t>GC-MS, HPLC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772"/>
                </a:solidFill>
                <a:latin typeface="Calibri"/>
              </a:rPr>
              <a:t>Accurate but destructive and slow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4005072"/>
            <a:ext cx="3611880" cy="1700784"/>
          </a:xfrm>
          <a:prstGeom prst="rect">
            <a:avLst/>
          </a:prstGeom>
          <a:solidFill>
            <a:srgbClr val="FDF3EE"/>
          </a:solidFill>
          <a:ln w="25400">
            <a:solidFill>
              <a:srgbClr val="D9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4152" y="4005072"/>
            <a:ext cx="3611880" cy="42062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2" y="409651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THIS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4517136"/>
            <a:ext cx="3319272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4375E"/>
                </a:solidFill>
                <a:latin typeface="Calibri"/>
              </a:rPr>
              <a:t>Electronic nose + ML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772"/>
                </a:solidFill>
                <a:latin typeface="Calibri"/>
              </a:rPr>
              <a:t>Non-destructive, real-time, on-device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97880"/>
            <a:ext cx="11183112" cy="530352"/>
          </a:xfrm>
          <a:prstGeom prst="rect">
            <a:avLst/>
          </a:prstGeom>
          <a:solidFill>
            <a:srgbClr val="FD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97880"/>
            <a:ext cx="64008" cy="530352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5897880"/>
            <a:ext cx="107259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541E"/>
                </a:solidFill>
                <a:latin typeface="Calibri"/>
              </a:rPr>
              <a:t>Objective:  a standalone, low-cost E-nose that grades onion freshness into four classes, non-destructively and entirely on-device.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1175FEE-6FE6-94E4-D505-2338E9E8AA5B}"/>
              </a:ext>
            </a:extLst>
          </p:cNvPr>
          <p:cNvSpPr/>
          <p:nvPr/>
        </p:nvSpPr>
        <p:spPr>
          <a:xfrm>
            <a:off x="948266" y="1280160"/>
            <a:ext cx="2450253" cy="1728215"/>
          </a:xfrm>
          <a:prstGeom prst="roundRect">
            <a:avLst>
              <a:gd name="adj" fmla="val 4160"/>
            </a:avLst>
          </a:prstGeom>
          <a:noFill/>
          <a:ln>
            <a:solidFill>
              <a:srgbClr val="23446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367815-8CF6-ED6F-8D28-64B78785F233}"/>
              </a:ext>
            </a:extLst>
          </p:cNvPr>
          <p:cNvSpPr/>
          <p:nvPr/>
        </p:nvSpPr>
        <p:spPr>
          <a:xfrm>
            <a:off x="8793483" y="1280160"/>
            <a:ext cx="2450253" cy="1728215"/>
          </a:xfrm>
          <a:prstGeom prst="roundRect">
            <a:avLst>
              <a:gd name="adj" fmla="val 4160"/>
            </a:avLst>
          </a:prstGeom>
          <a:noFill/>
          <a:ln>
            <a:solidFill>
              <a:srgbClr val="0E7C7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System Architecture and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fig10_prototy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93" y="1250616"/>
            <a:ext cx="5179220" cy="29123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176619"/>
            <a:ext cx="7423697" cy="195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772"/>
                </a:solidFill>
                <a:latin typeface="Calibri"/>
              </a:rPr>
              <a:t>Fig. 10 — Sample chamber → valve → sensor chamber → pump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133856"/>
            <a:ext cx="4416552" cy="104241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69480" y="1133856"/>
            <a:ext cx="64008" cy="1042415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7224" y="1133856"/>
            <a:ext cx="397764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75E"/>
                </a:solidFill>
                <a:latin typeface="Calibri"/>
              </a:rPr>
              <a:t>Compute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3"/>
                </a:solidFill>
                <a:latin typeface="Calibri"/>
              </a:rPr>
              <a:t>ESP32 · dual-core 240 MHz · 12-bit ADC · 4 MB flash. Acquisition, feature extraction and inference all run on-device.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2285999"/>
            <a:ext cx="4416552" cy="104241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69480" y="2285999"/>
            <a:ext cx="64008" cy="1042415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7224" y="2285999"/>
            <a:ext cx="397764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0E7C7B"/>
                </a:solidFill>
                <a:latin typeface="Calibri"/>
              </a:rPr>
              <a:t>Interface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1F2A33"/>
                </a:solidFill>
                <a:latin typeface="Calibri"/>
              </a:rPr>
              <a:t>Self-hosted Wi-Fi access point and web dashboard at 192.168.4.1; OLED readout; CSV logged to flash.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3438142"/>
            <a:ext cx="4416552" cy="1042415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9480" y="3438142"/>
            <a:ext cx="64008" cy="1042415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7224" y="3438142"/>
            <a:ext cx="3977640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D9541E"/>
                </a:solidFill>
                <a:latin typeface="Calibri"/>
              </a:rPr>
              <a:t>Offline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1F2A33"/>
                </a:solidFill>
                <a:latin typeface="Calibri"/>
              </a:rPr>
              <a:t>MATLAB training; model returns as a JSON node array — no firmware recompilation.</a:t>
            </a:r>
          </a:p>
        </p:txBody>
      </p:sp>
      <p:pic>
        <p:nvPicPr>
          <p:cNvPr id="19" name="Picture 18" descr="v3_sen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707" y="4474296"/>
            <a:ext cx="8702280" cy="14173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907024"/>
            <a:ext cx="11183112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907024"/>
            <a:ext cx="64008" cy="512064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5907024"/>
            <a:ext cx="107259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375E"/>
                </a:solidFill>
                <a:latin typeface="Calibri"/>
              </a:rPr>
              <a:t>₹5,960 total hardware cost  ·  acrylic chambers fabricated in-house  ·  inert PTFE gas path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5B3703-0DB8-BF7A-6736-0E9AD167AEEB}"/>
              </a:ext>
            </a:extLst>
          </p:cNvPr>
          <p:cNvSpPr/>
          <p:nvPr/>
        </p:nvSpPr>
        <p:spPr>
          <a:xfrm>
            <a:off x="1805939" y="4556761"/>
            <a:ext cx="1617593" cy="1238046"/>
          </a:xfrm>
          <a:prstGeom prst="roundRect">
            <a:avLst>
              <a:gd name="adj" fmla="val 4160"/>
            </a:avLst>
          </a:prstGeom>
          <a:noFill/>
          <a:ln>
            <a:solidFill>
              <a:srgbClr val="23446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76081B2-C9BD-3A86-13AB-165D587A5FFF}"/>
              </a:ext>
            </a:extLst>
          </p:cNvPr>
          <p:cNvSpPr/>
          <p:nvPr/>
        </p:nvSpPr>
        <p:spPr>
          <a:xfrm>
            <a:off x="8747470" y="4590285"/>
            <a:ext cx="1644687" cy="1204522"/>
          </a:xfrm>
          <a:prstGeom prst="roundRect">
            <a:avLst>
              <a:gd name="adj" fmla="val 3148"/>
            </a:avLst>
          </a:prstGeom>
          <a:noFill/>
          <a:ln>
            <a:solidFill>
              <a:srgbClr val="5A6772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METHODOLOGY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Measurement Protocol and Feature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v3_protocol.png"/>
          <p:cNvPicPr>
            <a:picLocks noChangeAspect="1"/>
          </p:cNvPicPr>
          <p:nvPr/>
        </p:nvPicPr>
        <p:blipFill>
          <a:blip r:embed="rId3"/>
          <a:srcRect l="1002" r="1000"/>
          <a:stretch>
            <a:fillRect/>
          </a:stretch>
        </p:blipFill>
        <p:spPr>
          <a:xfrm>
            <a:off x="948268" y="1138428"/>
            <a:ext cx="10295466" cy="1965960"/>
          </a:xfrm>
          <a:prstGeom prst="rect">
            <a:avLst/>
          </a:prstGeom>
        </p:spPr>
      </p:pic>
      <p:pic>
        <p:nvPicPr>
          <p:cNvPr id="9" name="Picture 8" descr="v3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67" y="3310128"/>
            <a:ext cx="10438759" cy="1828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358384"/>
            <a:ext cx="3611880" cy="1024128"/>
          </a:xfrm>
          <a:prstGeom prst="rect">
            <a:avLst/>
          </a:prstGeom>
          <a:solidFill>
            <a:srgbClr val="FFFFFF"/>
          </a:solidFill>
          <a:ln w="22860">
            <a:solidFill>
              <a:srgbClr val="14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486400"/>
            <a:ext cx="32461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EXPERIMENTAL DESIGN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3"/>
                </a:solidFill>
                <a:latin typeface="Calibri"/>
              </a:rPr>
              <a:t>3 onions × 4 classes × 5 replicates</a:t>
            </a:r>
            <a:br/>
            <a:r>
              <a:rPr sz="1300" b="0" i="0">
                <a:solidFill>
                  <a:srgbClr val="1F2A33"/>
                </a:solidFill>
                <a:latin typeface="Calibri"/>
              </a:rPr>
              <a:t>= 60 observations, Days 0/2/4/6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5358384"/>
            <a:ext cx="3611880" cy="1024128"/>
          </a:xfrm>
          <a:prstGeom prst="rect">
            <a:avLst/>
          </a:prstGeom>
          <a:solidFill>
            <a:srgbClr val="FFFFFF"/>
          </a:solidFill>
          <a:ln w="2286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5486400"/>
            <a:ext cx="32461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SAMPLE PREPARATION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3"/>
                </a:solidFill>
                <a:latin typeface="Calibri"/>
              </a:rPr>
              <a:t>Ethanol sterilised; spoilage by</a:t>
            </a:r>
            <a:br/>
            <a:r>
              <a:rPr sz="1300" b="0" i="0">
                <a:solidFill>
                  <a:srgbClr val="1F2A33"/>
                </a:solidFill>
                <a:latin typeface="Calibri"/>
              </a:rPr>
              <a:t>scoring + 48 h at 30 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5358384"/>
            <a:ext cx="3611880" cy="1024128"/>
          </a:xfrm>
          <a:prstGeom prst="rect">
            <a:avLst/>
          </a:prstGeom>
          <a:solidFill>
            <a:srgbClr val="FFFFFF"/>
          </a:solidFill>
          <a:ln w="22860">
            <a:solidFill>
              <a:srgbClr val="D9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5486400"/>
            <a:ext cx="32461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541E"/>
                </a:solidFill>
                <a:latin typeface="Calibri"/>
              </a:rPr>
              <a:t>ON-DEVICE CONSTRAINT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3"/>
                </a:solidFill>
                <a:latin typeface="Calibri"/>
              </a:rPr>
              <a:t>Single-pass accumulator;</a:t>
            </a:r>
            <a:br/>
            <a:r>
              <a:rPr sz="1300" b="0" i="0">
                <a:solidFill>
                  <a:srgbClr val="1F2A33"/>
                </a:solidFill>
                <a:latin typeface="Calibri"/>
              </a:rPr>
              <a:t>O(1) memory per channel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D1F2BF-C3F4-C6E3-F09B-96309E4C8FE2}"/>
              </a:ext>
            </a:extLst>
          </p:cNvPr>
          <p:cNvSpPr/>
          <p:nvPr/>
        </p:nvSpPr>
        <p:spPr>
          <a:xfrm>
            <a:off x="948267" y="1239013"/>
            <a:ext cx="2277146" cy="1453388"/>
          </a:xfrm>
          <a:prstGeom prst="roundRect">
            <a:avLst>
              <a:gd name="adj" fmla="val 4160"/>
            </a:avLst>
          </a:prstGeom>
          <a:noFill/>
          <a:ln>
            <a:solidFill>
              <a:srgbClr val="23446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F59B85-5879-0072-E253-924A6CC89687}"/>
              </a:ext>
            </a:extLst>
          </p:cNvPr>
          <p:cNvSpPr/>
          <p:nvPr/>
        </p:nvSpPr>
        <p:spPr>
          <a:xfrm>
            <a:off x="876467" y="3429000"/>
            <a:ext cx="2191853" cy="1123528"/>
          </a:xfrm>
          <a:prstGeom prst="roundRect">
            <a:avLst>
              <a:gd name="adj" fmla="val 4160"/>
            </a:avLst>
          </a:prstGeom>
          <a:noFill/>
          <a:ln>
            <a:solidFill>
              <a:srgbClr val="23446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F5D47B-AC8A-B18A-F747-6EDD03420E85}"/>
              </a:ext>
            </a:extLst>
          </p:cNvPr>
          <p:cNvSpPr/>
          <p:nvPr/>
        </p:nvSpPr>
        <p:spPr>
          <a:xfrm>
            <a:off x="8966587" y="1239013"/>
            <a:ext cx="2277146" cy="1485899"/>
          </a:xfrm>
          <a:prstGeom prst="roundRect">
            <a:avLst>
              <a:gd name="adj" fmla="val 4160"/>
            </a:avLst>
          </a:prstGeom>
          <a:noFill/>
          <a:ln>
            <a:solidFill>
              <a:srgbClr val="6B2C5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2A44E9-29D1-22D3-8DE2-76438C267058}"/>
              </a:ext>
            </a:extLst>
          </p:cNvPr>
          <p:cNvSpPr/>
          <p:nvPr/>
        </p:nvSpPr>
        <p:spPr>
          <a:xfrm>
            <a:off x="9084274" y="3429000"/>
            <a:ext cx="2230952" cy="1123528"/>
          </a:xfrm>
          <a:prstGeom prst="roundRect">
            <a:avLst>
              <a:gd name="adj" fmla="val 8681"/>
            </a:avLst>
          </a:prstGeom>
          <a:noFill/>
          <a:ln>
            <a:solidFill>
              <a:srgbClr val="6B2C5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Phase 1 — Exploratory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3"/>
                </a:solidFill>
                <a:latin typeface="Calibri"/>
              </a:rPr>
              <a:t>All 37 features (35 sensor statistics + humidity + temperature) — an upper-bound reference, never intended for deployment.</a:t>
            </a:r>
          </a:p>
        </p:txBody>
      </p:sp>
      <p:pic>
        <p:nvPicPr>
          <p:cNvPr id="9" name="Picture 8" descr="fig3_pca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045" y="1746504"/>
            <a:ext cx="4152165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" y="459028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772"/>
                </a:solidFill>
                <a:latin typeface="Calibri"/>
              </a:rPr>
              <a:t>Fig. 3 — PCA: PC1 vs PC2 by freshness class</a:t>
            </a:r>
          </a:p>
        </p:txBody>
      </p:sp>
      <p:pic>
        <p:nvPicPr>
          <p:cNvPr id="11" name="Picture 10" descr="fig6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019" y="1746504"/>
            <a:ext cx="4143897" cy="2761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81928" y="459028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772"/>
                </a:solidFill>
                <a:latin typeface="Calibri"/>
              </a:rPr>
              <a:t>Fig. 6 — One-vs-rest ROC curves, Random 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29200"/>
            <a:ext cx="2706624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14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4375E"/>
                </a:solidFill>
                <a:latin typeface="Calibri"/>
              </a:rPr>
              <a:t>76.3%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772"/>
                </a:solidFill>
                <a:latin typeface="Calibri"/>
              </a:rPr>
              <a:t>variance in first 3 PCs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6" y="5029200"/>
            <a:ext cx="2706624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6B2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5120640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6B2C5F"/>
                </a:solidFill>
                <a:latin typeface="Calibri"/>
              </a:rPr>
              <a:t>Substantial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772"/>
                </a:solidFill>
                <a:latin typeface="Calibri"/>
              </a:rPr>
              <a:t>inter-class overlap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5029200"/>
            <a:ext cx="2706624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5120640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E7C7B"/>
                </a:solidFill>
                <a:latin typeface="Calibri"/>
              </a:rPr>
              <a:t>75.0%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772"/>
                </a:solidFill>
                <a:latin typeface="Calibri"/>
              </a:rPr>
              <a:t>Random Forest CV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9408" y="5029200"/>
            <a:ext cx="2706624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0848" y="5120640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E7C7B"/>
                </a:solidFill>
                <a:latin typeface="Calibri"/>
              </a:rPr>
              <a:t>0.903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772"/>
                </a:solidFill>
                <a:latin typeface="Calibri"/>
              </a:rPr>
              <a:t>macro one-vs-rest AUC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98464"/>
            <a:ext cx="11183112" cy="457200"/>
          </a:xfrm>
          <a:prstGeom prst="rect">
            <a:avLst/>
          </a:prstGeom>
          <a:solidFill>
            <a:srgbClr val="FD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998464"/>
            <a:ext cx="64008" cy="457200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998464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541E"/>
                </a:solidFill>
                <a:latin typeface="Calibri"/>
              </a:rPr>
              <a:t>Encouraging on paper — until the feature importances were inspected.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Central Finding: a Day/Class Confound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v3_conf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64" y="1106424"/>
            <a:ext cx="9858366" cy="2395728"/>
          </a:xfrm>
          <a:prstGeom prst="rect">
            <a:avLst/>
          </a:prstGeom>
        </p:spPr>
      </p:pic>
      <p:pic>
        <p:nvPicPr>
          <p:cNvPr id="9" name="Picture 8" descr="fig7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711" y="3621024"/>
            <a:ext cx="2886737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69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772"/>
                </a:solidFill>
                <a:latin typeface="Calibri"/>
              </a:rPr>
              <a:t>Fig. 7 — Mean normalised response amplitude by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3657600"/>
            <a:ext cx="6153912" cy="1993392"/>
          </a:xfrm>
          <a:prstGeom prst="rect">
            <a:avLst/>
          </a:prstGeom>
          <a:solidFill>
            <a:srgbClr val="FDF3EE"/>
          </a:solidFill>
          <a:ln w="25400">
            <a:solidFill>
              <a:srgbClr val="D9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3822191"/>
            <a:ext cx="5605272" cy="1682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D9541E"/>
                </a:solidFill>
                <a:latin typeface="Calibri"/>
              </a:rPr>
              <a:t>CORROBORATING EVIDENCE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A33"/>
                </a:solidFill>
                <a:latin typeface="Calibri"/>
              </a:rPr>
              <a:t>Highly Spoiled shows the lowest mean response on every channel — an inversion of the spoilage–VOC relationship the literature expects.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A33"/>
                </a:solidFill>
                <a:latin typeface="Calibri"/>
              </a:rPr>
              <a:t>The explanation is not chemistry, but the same day/humidity confound acting on the sensor baselines.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053328"/>
            <a:ext cx="11183112" cy="4206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6053328"/>
            <a:ext cx="64008" cy="420624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6053328"/>
            <a:ext cx="107259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75E"/>
                </a:solidFill>
                <a:latin typeface="Calibri"/>
              </a:rPr>
              <a:t>Reported rather than concealed — this diagnosis is itself a substantive outcome of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Phase 2 — Deployed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831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14375E"/>
                </a:solidFill>
                <a:latin typeface="Calibri"/>
              </a:rPr>
              <a:t>65.0% cross-validated accuracy   ·   macro-F1 = 0.542   ·   chance = 25%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772"/>
                </a:solidFill>
                <a:latin typeface="Calibri"/>
              </a:rPr>
              <a:t>35 sensor-only features, environmental covariates excluded. Out-of-fold predictions, not the inflated 83.3% training accuracy.</a:t>
            </a:r>
          </a:p>
        </p:txBody>
      </p:sp>
      <p:pic>
        <p:nvPicPr>
          <p:cNvPr id="9" name="Picture 8" descr="v3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36" y="2787114"/>
            <a:ext cx="3520440" cy="23243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8156" y="523646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5A6772"/>
                </a:solidFill>
                <a:latin typeface="Calibri"/>
              </a:rPr>
              <a:t>Table 3 — CV accuracy vs tree complexity</a:t>
            </a:r>
          </a:p>
        </p:txBody>
      </p:sp>
      <p:pic>
        <p:nvPicPr>
          <p:cNvPr id="11" name="Picture 10" descr="v3_per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646273"/>
            <a:ext cx="5035088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80300" y="529620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dirty="0">
                <a:solidFill>
                  <a:srgbClr val="5A6772"/>
                </a:solidFill>
                <a:latin typeface="Calibri"/>
              </a:rPr>
              <a:t>Table 4 — Per-class precision, recall and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05856"/>
            <a:ext cx="5504688" cy="65836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4008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5705856"/>
            <a:ext cx="5093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Slightly Aged is most reliable  (F1 = 0.867);  Moderately Spoiled weakest  (F1 = 0.348)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5705856"/>
            <a:ext cx="5504688" cy="65836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5705856"/>
            <a:ext cx="64008" cy="658368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5705856"/>
            <a:ext cx="5093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Tree splits only on MQ135 / MQ137 — the three TGS channels contributed 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CRITICAL APPRAISAL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Limitations, Cost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52144"/>
            <a:ext cx="544068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52144"/>
            <a:ext cx="5440680" cy="475488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92224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41E"/>
                </a:solidFill>
                <a:latin typeface="Calibri"/>
              </a:rPr>
              <a:t>▪  Day/class confound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each class sampled on one distinct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41E"/>
                </a:solidFill>
                <a:latin typeface="Calibri"/>
              </a:rPr>
              <a:t>▪  Small sample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n = 60, three biological replicates per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41E"/>
                </a:solidFill>
                <a:latin typeface="Calibri"/>
              </a:rPr>
              <a:t>▪  Two-channel reliance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robustness to sensor drift unvalidated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0273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41E"/>
                </a:solidFill>
                <a:latin typeface="Calibri"/>
              </a:rPr>
              <a:t>▪  No pure-culture inoculation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natural microflora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152144"/>
            <a:ext cx="544068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45352" y="1152144"/>
            <a:ext cx="5440680" cy="4754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1252728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792224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E7C7B"/>
                </a:solidFill>
                <a:latin typeface="Calibri"/>
              </a:rPr>
              <a:t>▪  Deconfound the protocol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interleave all four classes per session; expand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95728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E7C7B"/>
                </a:solidFill>
                <a:latin typeface="Calibri"/>
              </a:rPr>
              <a:t>▪  Recover the TGS channels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recalibrate; relative-response baseline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999232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E7C7B"/>
                </a:solidFill>
                <a:latin typeface="Calibri"/>
              </a:rPr>
              <a:t>▪  Benchmark classifiers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SVM-RBF, k-NN against the tree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60273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E7C7B"/>
                </a:solidFill>
                <a:latin typeface="Calibri"/>
              </a:rPr>
              <a:t>▪  Formalise for publication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consolidate into the planned conference paper</a:t>
            </a:r>
          </a:p>
        </p:txBody>
      </p:sp>
      <p:pic>
        <p:nvPicPr>
          <p:cNvPr id="22" name="Picture 21" descr="v3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69" y="4503420"/>
            <a:ext cx="4550501" cy="187451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45352" y="4498848"/>
            <a:ext cx="5440680" cy="18836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45352" y="4498848"/>
            <a:ext cx="64008" cy="18836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4645152"/>
            <a:ext cx="493776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200" b="1" i="0">
                <a:solidFill>
                  <a:srgbClr val="14375E"/>
                </a:solidFill>
                <a:latin typeface="Calibri"/>
              </a:rPr>
              <a:t>₹5,960  (~$72 USD)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Calibri"/>
              </a:rPr>
              <a:t>≈ 4× below the comparable published MOS array, and two to three orders of magnitude below commercial instruments — practical for resource-constrained storage settings.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881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FB6CB"/>
                </a:solidFill>
                <a:latin typeface="Calibri"/>
              </a:rPr>
              <a:t>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12801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772"/>
                </a:solidFill>
                <a:latin typeface="Calibri"/>
              </a:rPr>
              <a:t>E-Nose for Onion Freshness  ·  Madhuhrita Saha  ·  CHCI Lab, SCEE, IIT Mandi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25296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A33"/>
                </a:solidFill>
                <a:latin typeface="Calibri"/>
              </a:rPr>
              <a:t>An end-to-end, edge-deployable E-nose pipeline — from raw VOC sensing to a displayed classification result — was designed, fabricated, trained and deployed within the two-month internship.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04288"/>
            <a:ext cx="270662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3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04288"/>
            <a:ext cx="2706624" cy="420624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71216"/>
            <a:ext cx="23774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Five-sensor MOS array on ESP32 in a custom acrylic chamber; automated four-stage cycle; Wi-Fi dashboard.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6" y="2304288"/>
            <a:ext cx="270662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8416" y="2304288"/>
            <a:ext cx="2706624" cy="42062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28416" y="2395728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871216"/>
            <a:ext cx="23774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35 streaming features; PCA and Random Forest exploration; a constrained tree deployed as JSON.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2304288"/>
            <a:ext cx="270662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2304288"/>
            <a:ext cx="2706624" cy="420624"/>
          </a:xfrm>
          <a:prstGeom prst="rect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2395728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871216"/>
            <a:ext cx="23774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65.0% CV accuracy, macro-F1 0.542; a day/class confound identified, quantified and mitigated.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2304288"/>
            <a:ext cx="270662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79408" y="2304288"/>
            <a:ext cx="2706624" cy="420624"/>
          </a:xfrm>
          <a:prstGeom prst="rect">
            <a:avLst/>
          </a:prstGeom>
          <a:solidFill>
            <a:srgbClr val="6B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79408" y="2395728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871216"/>
            <a:ext cx="23774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Calibri"/>
              </a:rPr>
              <a:t>₹5,960 build; ML classification advanced from a planned phase to a completed component.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26864"/>
            <a:ext cx="11183112" cy="12070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626864"/>
            <a:ext cx="64008" cy="1207008"/>
          </a:xfrm>
          <a:prstGeom prst="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375E"/>
                </a:solidFill>
                <a:latin typeface="Calibri"/>
              </a:rPr>
              <a:t>CLOSING REMARK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3"/>
                </a:solidFill>
                <a:latin typeface="Calibri"/>
              </a:rPr>
              <a:t>The honest 65% — obtained after removing the covariates that inflated the 75% benchmark — is more useful to this laboratory than an impressive number that would not survive a change of measurement 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16752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375E"/>
                </a:solidFill>
                <a:latin typeface="Calibri"/>
              </a:rPr>
              <a:t>Thank you  —  questions and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2394</Words>
  <Application>Microsoft Office PowerPoint</Application>
  <PresentationFormat>Widescreen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Madhuhrita Saha</dc:creator>
  <cp:keywords/>
  <dc:description>generated using python-pptx</dc:description>
  <cp:lastModifiedBy>Madhuhrita Saha</cp:lastModifiedBy>
  <cp:revision>6</cp:revision>
  <dcterms:created xsi:type="dcterms:W3CDTF">2013-01-27T09:14:16Z</dcterms:created>
  <dcterms:modified xsi:type="dcterms:W3CDTF">2026-08-03T19:41:50Z</dcterms:modified>
  <cp:category/>
</cp:coreProperties>
</file>